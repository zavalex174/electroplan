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Всё, что покажем, уже работает по ссылке electroplan-573.pages.dev — можно открыть и повторить.</a:t>
            </a:r>
          </a:p>
          <a:p>
            <a:r>
              <a:t>Порядок: функции, которые вы просили, потом деньги и документы, потом исправления 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группы: сначала то, что вы просили, затем всё про деньги и документы, затем исправления.</a:t>
            </a:r>
          </a:p>
          <a:p>
            <a:r>
              <a:t>В конце — вопросы: от ответов зависит, что делаем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Одиннадцать функций, которые вы просили. Пример везде — демо-проект «Квартира на Садовой»: 4 комнаты, 5 постов, рубли.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НДС теперь считается тремя способами — выбирается одним полем в «Стоимости проекта».</a:t>
            </a:r>
          </a:p>
          <a:p>
            <a:r>
              <a:t>Ставка — в поле рядом, на снимке 20 %.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Итоги коммерческого предложения: НДС отдельной строкой и прибавляется к сумме.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Тот же проект: сумма та же, НДС показан внутри неё.</a:t>
            </a:r>
          </a:p>
          <a:p>
            <a:r>
              <a:t>Третий режим «Не учитывать» — строки НДС в предложении нет вовсе (на слайде текстом, без снимка).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Номер больше не нужно придумывать: поле пустое — программа дала номер сама.</a:t>
            </a:r>
          </a:p>
          <a:p>
            <a:r>
              <a:t>Снимок поля — с другого демо-проекта, поэтому дата на нём другая.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Номер закрепляется за проектом: печатаете заново — номер тот же; новый проект — следующий номер.</a:t>
            </a:r>
          </a:p>
          <a:p>
            <a:r>
              <a:t>Реквизиты на снимке выдуманные.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Скидку можно дать не на весь проект, а на отдельную позицию — полем «%» в её строке.</a:t>
            </a:r>
          </a:p>
          <a:p>
            <a:r>
              <a:t>Если спросят, почему итог меньше на 1 378,21, а не на 918,81: материалы, работы и НДС считаются от суммы после скидки.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Клиент видит в предложении, на какую позицию дана скидка.</a:t>
            </a:r>
          </a:p>
          <a:p>
            <a:r>
              <a:t>Снимок с другого демо-проекта — числа на нём свои. Общая скидка 3 %, у поста своя 10 %.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 поста в листе монтажника выбирается: разложенный по деталям или собранный.</a:t>
            </a:r>
          </a:p>
          <a:p>
            <a:r>
              <a:t>Пример — пост № 2 в гостиной.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 же карточка, только пост нарисован собранным. Состав и артикулы те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Свои реквизиты вводятся один раз и подставляются во все проекты; реквизиты заказчика — у каждого проекта свои.</a:t>
            </a:r>
          </a:p>
          <a:p>
            <a:r>
              <a:t>Реквизиты на снимках выдуманные.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Сняли галочку — поле не попало в шапку предложения, остальное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Снимок настоящего Excel — книга «Спецификация EPG-2026-0001.xlsx», два листа.</a:t>
            </a:r>
          </a:p>
          <a:p>
            <a:r>
              <a:t>Снимок с другого демо-проекта — числа на нём свои. Итоги совпадают с КП того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Вариант «только чертёж» крутит одну подложку, «весь план» — всё вместе.</a:t>
            </a:r>
          </a:p>
          <a:p>
            <a:r>
              <a:t>Посты остаются в своих комнатах — у Гостиной по-прежнему 2 объекта.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Действия на плане можно отменить и вернуть — клавишами или кнопками над планом.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Пост вернулся на то же место. Проверено цепочкой Delete → Ctrl+Z → Ctrl+Y → Ctrl+Z.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Сумма — цены трёх выделенных постов из спецификации: 6 125,37 + 10 144,49 + 6 900,51.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Пост № 6 в Гостиной скопирован, копия № 7 встала в Спальне — туда, где была мышь.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Одиночные элементы с плана убраны — всё собирается постами.</a:t>
            </a:r>
          </a:p>
          <a:p>
            <a:r>
              <a:t>Нажимать здесь нечего — это вид «как теперь».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всё про то, чтобы цифры в панели, КП и Excel сходились, и про оформление документов.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строка спецификации читается как строка счёта: количество, цена, сумма.</a:t>
            </a:r>
          </a:p>
          <a:p>
            <a:r>
              <a:t>Снимок с другого демо-проекта — числа на нём свои.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Скидка — 3 % от напечатанного «Оборудования»; материалы (5 %) и работы (23 %) — от суммы после скидки, 9 034,48 ₽.</a:t>
            </a:r>
          </a:p>
          <a:p>
            <a:r>
              <a:t>Слева панель программы, справа Excel — те же числа, что и в КП, до копейки.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Сложите две строки — получится третья, без расхождения в копейку (проверено сложением чисел с экрана).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Пустое предложение не печатается и не занимает номер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Подпись и печать на снимке — образцы, нарисованные для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Накладка подходит отделке комнаты — поэтому остаётся, хоть и снята с производства; неподходящая заменилась бы, как обычно.</a:t>
            </a:r>
          </a:p>
          <a:p>
            <a:r>
              <a:t>По проверке в окне поста есть плашка «Накладка снята с производства…» — на снимке её не видно, показать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исправления.</a:t>
            </a:r>
          </a:p>
          <a:p>
            <a:r>
              <a:t>Прихожая на плане Г-образная: табличка стоит внутри неё, клик по ней при «Разместить» ставит пост.</a:t>
            </a:r>
          </a:p>
          <a:p>
            <a:r>
              <a:t>Правка разметки: программа пересобрала помещения («Помещение 5»), а имя и отделка Гостиной на месте, посты тоже.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на показе что-то пошло не так — Ctrl+Z.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тем; у каждого вопроса в файле написано, что изменится в программе после ответа.</a:t>
            </a:r>
          </a:p>
          <a:p>
            <a:r>
              <a:t>Самое срочное — новая номенклатура: без ответа её не загрузить.</a:t>
            </a:r>
          </a:p>
          <a:p>
            <a:r>
              <a:t>Код функции клавиш предлагаем обсудить на созвоне.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Ссылка та же, что и раньше.</a:t>
            </a:r>
          </a:p>
          <a:p>
            <a:r>
              <a:t>Ждём ответов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ElectroPlan — к встрече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C8D4E6"/>
                </a:solidFill>
                <a:latin typeface="Arial"/>
              </a:rPr>
              <a:t>Что сделано с 24.09 — куда нажимать и что получаем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B3C4"/>
                </a:solidFill>
                <a:latin typeface="Arial"/>
              </a:rPr>
              <a:t>https://electroplan-573.pages.dev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ПЛАН ПОКАЗА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Три группы изменений +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1.  Функции, которые вы просили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НДС, номер КП, скидки, лист монтажника, реквизиты, Excel, работа с постами на плане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2.  Деньги и документы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строка как в счёте, НДС до копейки, пустой проект, печать, снятая накладка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3.  Исправлено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табличка Г-образной комнаты, данные комнаты при перерисовке, вид «С картинками»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4.  Вопросы — от ответов зависит следующая работа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B3C4"/>
                </a:solidFill>
                <a:latin typeface="Arial"/>
              </a:rPr>
              <a:t>ЧАСТЬ 1 ИЗ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Функции, которые вы просили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74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1.  НДС — три режима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2.  Автономер КП EPG-2026-0001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3.  Скидка на отдельные позиции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4.  Лист монтажника: «общая сборка» / «взрыв-схема»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5.  Реквизиты с галочками — какие поля печатать в КП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6.  Спецификация в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926080"/>
            <a:ext cx="5074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7.  Поворот плана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8.  Отмена и повтор (Ctrl+Z / Ctrl+Y)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9.  Групповое выделение постов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10.  Копирование постов (Ctrl+C / Ctrl+V)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11.  Одиночные элементы убраны с плана — только посты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 · НДС — ТРИ РЕЖИМА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Выбираем, как считать НДС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блок «Стоимость проекта».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Поле «НДС» — «Начислить сверху» / «Выделить в стоимости» / «Не учитывать».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Рядом поле «НДС, %» (20).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 снимке — «Начислить сверху», «НДС, %» = 20, «Итого» 49 321,56 ₽.</a:t>
            </a:r>
          </a:p>
        </p:txBody>
      </p:sp>
      <p:pic>
        <p:nvPicPr>
          <p:cNvPr id="6" name="Picture 5" descr="01-1-vat-field-surcharge.png"/>
          <p:cNvPicPr>
            <a:picLocks noChangeAspect="1"/>
          </p:cNvPicPr>
          <p:nvPr/>
        </p:nvPicPr>
        <p:blipFill>
          <a:blip r:embed="rId2"/>
          <a:srcRect l="76875" t="9500" b="40000"/>
          <a:stretch>
            <a:fillRect/>
          </a:stretch>
        </p:blipFill>
        <p:spPr>
          <a:xfrm>
            <a:off x="6103846" y="1325880"/>
            <a:ext cx="3885747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 · НДС — ТРИ РЕЖИМА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«Начислить сверху» — НДС добавляется к итогу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Поле «НДС» — «Начислить сверху».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без НДС» 41 101,30 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«НДС 20%» 8 220,26 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с НДС» 49 321,56 ₽</a:t>
            </a:r>
          </a:p>
        </p:txBody>
      </p:sp>
      <p:pic>
        <p:nvPicPr>
          <p:cNvPr id="6" name="Picture 5" descr="01-2-vat-kp-surcharge.png"/>
          <p:cNvPicPr>
            <a:picLocks noChangeAspect="1"/>
          </p:cNvPicPr>
          <p:nvPr/>
        </p:nvPicPr>
        <p:blipFill>
          <a:blip r:embed="rId2"/>
          <a:srcRect l="73750" t="39500" b="38500"/>
          <a:stretch>
            <a:fillRect/>
          </a:stretch>
        </p:blipFill>
        <p:spPr>
          <a:xfrm>
            <a:off x="4206240" y="1325880"/>
            <a:ext cx="7680960" cy="402336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 · НДС — ТРИ РЕЖИМА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«Выделить в стоимости» — итог тот же, НДС внутри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Поле «НДС» — «Выделить в стоимости».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41 101,30 ₽», ниже «в т.ч. НДС 20% 6 850,22 ₽» — сумма не растёт.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«Не учитывать» — только «Итого 41 101,30 ₽», строки НДС нет.</a:t>
            </a:r>
          </a:p>
        </p:txBody>
      </p:sp>
      <p:pic>
        <p:nvPicPr>
          <p:cNvPr id="6" name="Picture 5" descr="01-3-vat-field-included.png"/>
          <p:cNvPicPr>
            <a:picLocks noChangeAspect="1"/>
          </p:cNvPicPr>
          <p:nvPr/>
        </p:nvPicPr>
        <p:blipFill>
          <a:blip r:embed="rId2"/>
          <a:srcRect l="76875" t="23000" b="40000"/>
          <a:stretch>
            <a:fillRect/>
          </a:stretch>
        </p:blipFill>
        <p:spPr>
          <a:xfrm>
            <a:off x="6298208" y="1325880"/>
            <a:ext cx="3497022" cy="3497022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1-4-vat-kp-included.png"/>
          <p:cNvPicPr>
            <a:picLocks noChangeAspect="1"/>
          </p:cNvPicPr>
          <p:nvPr/>
        </p:nvPicPr>
        <p:blipFill>
          <a:blip r:embed="rId3"/>
          <a:srcRect l="73750" t="40500" b="40000"/>
          <a:stretch>
            <a:fillRect/>
          </a:stretch>
        </p:blipFill>
        <p:spPr>
          <a:xfrm>
            <a:off x="6298208" y="5005782"/>
            <a:ext cx="3497021" cy="1623617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2 · АВТОНОМЕР КП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Номер КП ставится сам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«Реквизиты КП», поле «Номер КП» — оставить пустым.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Программа сама присваивает номер EPG-2026-0001 и вписывает его в поле «Номер КП».</a:t>
            </a:r>
          </a:p>
        </p:txBody>
      </p:sp>
      <p:pic>
        <p:nvPicPr>
          <p:cNvPr id="6" name="Picture 5" descr="02-1-number-auto__kp-verify.png"/>
          <p:cNvPicPr>
            <a:picLocks noChangeAspect="1"/>
          </p:cNvPicPr>
          <p:nvPr/>
        </p:nvPicPr>
        <p:blipFill>
          <a:blip r:embed="rId2"/>
          <a:srcRect l="76875" t="30000" b="40000"/>
          <a:stretch>
            <a:fillRect/>
          </a:stretch>
        </p:blipFill>
        <p:spPr>
          <a:xfrm>
            <a:off x="4776216" y="1325880"/>
            <a:ext cx="6541008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2 · АВТОНОМЕР КП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Номер — в шапке предложения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шапке КП: «Номер КП: EPG-2026-0001».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Повторная печать того же проекта номер не меняет.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Следующий проект получит 0002.</a:t>
            </a:r>
          </a:p>
        </p:txBody>
      </p:sp>
      <p:pic>
        <p:nvPicPr>
          <p:cNvPr id="6" name="Picture 5" descr="02-2-kp-header-number.png"/>
          <p:cNvPicPr>
            <a:picLocks noChangeAspect="1"/>
          </p:cNvPicPr>
          <p:nvPr/>
        </p:nvPicPr>
        <p:blipFill>
          <a:blip r:embed="rId2"/>
          <a:srcRect t="1500" r="40000" b="64000"/>
          <a:stretch>
            <a:fillRect/>
          </a:stretch>
        </p:blipFill>
        <p:spPr>
          <a:xfrm>
            <a:off x="4206240" y="1325880"/>
            <a:ext cx="7680960" cy="276034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СКИДКА НА ОТДЕЛЬНЫЕ 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Своя скидка у отдельной строки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блок «Спецификация» — у строки поста поле «%».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Вписать скидку для этой позиции (здесь 15 у «Свет у входа»).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Строка «Скидка (общая 0%, у отмеченных позиций своя) −918,81 ₽» — 15 % от 6 125,37 ₽.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«Итого» 47 943,35 ₽ вместо 49 321,56 ₽.</a:t>
            </a:r>
          </a:p>
        </p:txBody>
      </p:sp>
      <p:pic>
        <p:nvPicPr>
          <p:cNvPr id="6" name="Picture 5" descr="03-1-discount-row-panel.png"/>
          <p:cNvPicPr>
            <a:picLocks noChangeAspect="1"/>
          </p:cNvPicPr>
          <p:nvPr/>
        </p:nvPicPr>
        <p:blipFill>
          <a:blip r:embed="rId2"/>
          <a:srcRect l="76875" t="70000" b="16000"/>
          <a:stretch>
            <a:fillRect/>
          </a:stretch>
        </p:blipFill>
        <p:spPr>
          <a:xfrm>
            <a:off x="5486401" y="1325880"/>
            <a:ext cx="5120638" cy="1937539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3-1-discount-row-panel.png"/>
          <p:cNvPicPr>
            <a:picLocks noChangeAspect="1"/>
          </p:cNvPicPr>
          <p:nvPr/>
        </p:nvPicPr>
        <p:blipFill>
          <a:blip r:embed="rId2"/>
          <a:srcRect l="76875" t="24000" b="53000"/>
          <a:stretch>
            <a:fillRect/>
          </a:stretch>
        </p:blipFill>
        <p:spPr>
          <a:xfrm>
            <a:off x="5486400" y="3446299"/>
            <a:ext cx="5120639" cy="31831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СКИДКА НА ОТДЕЛЬНЫЕ 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В КП — пометка у строки со скидкой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У строки «Пост на 4 модуля» пометка «скидка 10%», у строки с 0 % — «без скидки».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итогах: «Скидка (общая 3%, у отмеченных позиций своя) −576,59 ₽».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с НДС 13 420,51 ₽».</a:t>
            </a:r>
          </a:p>
        </p:txBody>
      </p:sp>
      <p:pic>
        <p:nvPicPr>
          <p:cNvPr id="6" name="Picture 5" descr="03-2-discount-kp__v26.png"/>
          <p:cNvPicPr>
            <a:picLocks noChangeAspect="1"/>
          </p:cNvPicPr>
          <p:nvPr/>
        </p:nvPicPr>
        <p:blipFill>
          <a:blip r:embed="rId2"/>
          <a:srcRect t="1429" b="85714"/>
          <a:stretch>
            <a:fillRect/>
          </a:stretch>
        </p:blipFill>
        <p:spPr>
          <a:xfrm>
            <a:off x="4459011" y="1325880"/>
            <a:ext cx="7175416" cy="1174159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3-2-discount-kp__v26.png"/>
          <p:cNvPicPr>
            <a:picLocks noChangeAspect="1"/>
          </p:cNvPicPr>
          <p:nvPr/>
        </p:nvPicPr>
        <p:blipFill>
          <a:blip r:embed="rId2"/>
          <a:srcRect l="63636" t="41429" b="42857"/>
          <a:stretch>
            <a:fillRect/>
          </a:stretch>
        </p:blipFill>
        <p:spPr>
          <a:xfrm>
            <a:off x="4459010" y="2682919"/>
            <a:ext cx="7175418" cy="394648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4 · ЛИСТ МОНТАЖНИКА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«Взрыв-схема» — пост разложен по деталям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раскрыть «Настройка состава КП».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Поле «Вид поста в листе монтажника» — «Взрыв-схема».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Кнопка «Лист монтажника».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Пост по деталям с артикулами: накладка 14654.24, две розетки 14208, суппорт 14614, коробка V71304.</a:t>
            </a:r>
          </a:p>
        </p:txBody>
      </p:sp>
      <p:pic>
        <p:nvPicPr>
          <p:cNvPr id="6" name="Picture 5" descr="04-1-install-exploded.png"/>
          <p:cNvPicPr>
            <a:picLocks noChangeAspect="1"/>
          </p:cNvPicPr>
          <p:nvPr/>
        </p:nvPicPr>
        <p:blipFill>
          <a:blip r:embed="rId2"/>
          <a:srcRect l="1250" t="4000" r="2500" b="4000"/>
          <a:stretch>
            <a:fillRect/>
          </a:stretch>
        </p:blipFill>
        <p:spPr>
          <a:xfrm>
            <a:off x="4206240" y="1325880"/>
            <a:ext cx="7680960" cy="458862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4 · ЛИСТ МОНТАЖНИКА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«Общая сборка» — пост целиком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Поле «Вид поста в листе монтажника» — «Общая сборка».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«Лист монтажника».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Та же карточка без разложенной схемы: собранная накладка с розетками.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Таблицы «Модуль / Элемент / Артикул» и «Обвязка поста».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Карточек по комнатам столько же.</a:t>
            </a:r>
          </a:p>
        </p:txBody>
      </p:sp>
      <p:pic>
        <p:nvPicPr>
          <p:cNvPr id="6" name="Picture 5" descr="04-2-install-assembled.png"/>
          <p:cNvPicPr>
            <a:picLocks noChangeAspect="1"/>
          </p:cNvPicPr>
          <p:nvPr/>
        </p:nvPicPr>
        <p:blipFill>
          <a:blip r:embed="rId2"/>
          <a:srcRect t="3000" b="52000"/>
          <a:stretch>
            <a:fillRect/>
          </a:stretch>
        </p:blipFill>
        <p:spPr>
          <a:xfrm>
            <a:off x="4206240" y="1325880"/>
            <a:ext cx="7680960" cy="216027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5 · РЕКВИЗИТЫ С ГАЛОЧКАМИ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Галочка решает, печатать ли поле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«Реквизиты КП» → «Мои реквизиты» и «Реквизиты заказчика».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У поля «ИНН» (мои) и «Адрес» (заказчика) снять галочку «показывать в КП».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ФИО, телефон, e-mail печатаются всегда (галочка серая).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«Мои реквизиты» заполняются один раз и стоят во всех проектах.</a:t>
            </a:r>
          </a:p>
        </p:txBody>
      </p:sp>
      <p:pic>
        <p:nvPicPr>
          <p:cNvPr id="6" name="Picture 5" descr="05-1-requisites-checkboxes.png"/>
          <p:cNvPicPr>
            <a:picLocks noChangeAspect="1"/>
          </p:cNvPicPr>
          <p:nvPr/>
        </p:nvPicPr>
        <p:blipFill>
          <a:blip r:embed="rId2"/>
          <a:srcRect l="76875" t="6000"/>
          <a:stretch>
            <a:fillRect/>
          </a:stretch>
        </p:blipFill>
        <p:spPr>
          <a:xfrm>
            <a:off x="7002942" y="1325880"/>
            <a:ext cx="2087555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5 · РЕКВИЗИТЫ С ГАЛОЧКАМИ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В КП — только отмеченные поля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Блок «Исполнитель» — без ИНН.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Блок «Заказчик» — без адреса.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Остальные поля напечатаны.</a:t>
            </a:r>
          </a:p>
        </p:txBody>
      </p:sp>
      <p:pic>
        <p:nvPicPr>
          <p:cNvPr id="6" name="Picture 5" descr="02-2-kp-header-number.png"/>
          <p:cNvPicPr>
            <a:picLocks noChangeAspect="1"/>
          </p:cNvPicPr>
          <p:nvPr/>
        </p:nvPicPr>
        <p:blipFill>
          <a:blip r:embed="rId2"/>
          <a:srcRect t="1500" r="40000" b="64000"/>
          <a:stretch>
            <a:fillRect/>
          </a:stretch>
        </p:blipFill>
        <p:spPr>
          <a:xfrm>
            <a:off x="4206240" y="1325880"/>
            <a:ext cx="7680960" cy="276034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6 · СПЕЦИФИКАЦИЯ В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Спецификация одной кнопкой в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Кнопка «Спецификация Excel» (вверху справа, рядом с «Коммерческое предложение PDF»).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Открыть скачанный файл.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Книга Excel: строки постов с количеством, ценой и суммой.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Итоги — те же числа, что в КП (13 876,96 ₽ в этом примере).</a:t>
            </a:r>
          </a:p>
        </p:txBody>
      </p:sp>
      <p:pic>
        <p:nvPicPr>
          <p:cNvPr id="6" name="Picture 5" descr="06-1-excel-sheet1__v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18288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6-2-excel-sheet2__v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1" y="3337560"/>
            <a:ext cx="7680958" cy="2698229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7 · ПОВОРОТ ПЛАНА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Поворачиваем весь план на 90°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Левая панель «Исходный план», поле «Поворот» — «весь план».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«↻ 90°» (или «↺ 90°»; произвольный угол — поле «Угол, °»).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Чертёж, контуры комнат и посты повернулись вместе.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Таблички комнат и номера постов остаются прямыми.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Привязка не сбилась: «Постов: 5 · Комнат: 4».</a:t>
            </a:r>
          </a:p>
        </p:txBody>
      </p:sp>
      <p:pic>
        <p:nvPicPr>
          <p:cNvPr id="6" name="Picture 5" descr="07-1-plan-rotated.png"/>
          <p:cNvPicPr>
            <a:picLocks noChangeAspect="1"/>
          </p:cNvPicPr>
          <p:nvPr/>
        </p:nvPicPr>
        <p:blipFill>
          <a:blip r:embed="rId2"/>
          <a:srcRect t="5500" r="16875"/>
          <a:stretch>
            <a:fillRect/>
          </a:stretch>
        </p:blipFill>
        <p:spPr>
          <a:xfrm>
            <a:off x="4314613" y="1325880"/>
            <a:ext cx="7464213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8 · ОТМЕНА И ПОВТОР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Удалили пост — Ctrl+Z вернёт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Выделить пост № 3 на кухне, клавиша Delete — пост удалён.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Ctrl+Z (или кнопка «Отменить» над планом) — пост вернулся.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Ctrl+Y (или «Вернуть») — снова удалён.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После Delete: «Постов: 4 · Комнат: 4», у «Кухни» «0 объект.».</a:t>
            </a:r>
          </a:p>
        </p:txBody>
      </p:sp>
      <p:pic>
        <p:nvPicPr>
          <p:cNvPr id="6" name="Picture 5" descr="08-1-post-deleted.png"/>
          <p:cNvPicPr>
            <a:picLocks noChangeAspect="1"/>
          </p:cNvPicPr>
          <p:nvPr/>
        </p:nvPicPr>
        <p:blipFill>
          <a:blip r:embed="rId2"/>
          <a:srcRect l="9375" t="5500" r="16875"/>
          <a:stretch>
            <a:fillRect/>
          </a:stretch>
        </p:blipFill>
        <p:spPr>
          <a:xfrm>
            <a:off x="4735528" y="1325880"/>
            <a:ext cx="6622384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8 · ОТМЕНА И ПОВТОР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После Ctrl+Z пост на 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«Постов: 5 · Комнат: 4».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У «Кухни» снова «1 объект.».</a:t>
            </a:r>
          </a:p>
        </p:txBody>
      </p:sp>
      <p:pic>
        <p:nvPicPr>
          <p:cNvPr id="6" name="Picture 5" descr="11-1-plan-only-posts.png"/>
          <p:cNvPicPr>
            <a:picLocks noChangeAspect="1"/>
          </p:cNvPicPr>
          <p:nvPr/>
        </p:nvPicPr>
        <p:blipFill>
          <a:blip r:embed="rId2"/>
          <a:srcRect l="9375" t="5500" r="16875"/>
          <a:stretch>
            <a:fillRect/>
          </a:stretch>
        </p:blipFill>
        <p:spPr>
          <a:xfrm>
            <a:off x="4735528" y="1325880"/>
            <a:ext cx="6622384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9 · ГРУППОВОЕ ВЫДЕЛЕНИЕ ПОСТОВ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Выделяем несколько постов рамкой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Инструмент «Выбор».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Протянуть мышью рамку по пустому месту плана вокруг постов.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Ctrl+клик добавляет или убирает пост.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Над планом «Выделено: 3».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Справа «Выделено постов 3», «Суммарная стоимость 23 170,37 ₽».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Кнопка «Удалить выделенные (3)».</a:t>
            </a:r>
          </a:p>
        </p:txBody>
      </p:sp>
      <p:pic>
        <p:nvPicPr>
          <p:cNvPr id="6" name="Picture 5" descr="09-1-group-selection.png"/>
          <p:cNvPicPr>
            <a:picLocks noChangeAspect="1"/>
          </p:cNvPicPr>
          <p:nvPr/>
        </p:nvPicPr>
        <p:blipFill>
          <a:blip r:embed="rId2"/>
          <a:srcRect l="18750" t="5500"/>
          <a:stretch>
            <a:fillRect/>
          </a:stretch>
        </p:blipFill>
        <p:spPr>
          <a:xfrm>
            <a:off x="4398796" y="1325880"/>
            <a:ext cx="7295847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10 · КОПИРОВАНИЕ ПОСТОВ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Ctrl+C / Ctrl+V — копия в другой комнате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Выделить пост на плане (несколько — рамкой или Ctrl+кликом).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Ctrl+C.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Навести мышь на место в другой комнате, Ctrl+V.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Копия встаёт под мышью с новым номером (№ 7) и привязывается к комнате («Комната: Спальня»).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Сообщение «Вставлено постов: 1.», «Постов: 7».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Ctrl+Z убирает вставку одним шагом.</a:t>
            </a:r>
          </a:p>
        </p:txBody>
      </p:sp>
      <p:pic>
        <p:nvPicPr>
          <p:cNvPr id="6" name="Picture 5" descr="16-1-copy-hover-discontinued.png"/>
          <p:cNvPicPr>
            <a:picLocks noChangeAspect="1"/>
          </p:cNvPicPr>
          <p:nvPr/>
        </p:nvPicPr>
        <p:blipFill>
          <a:blip r:embed="rId2"/>
          <a:srcRect l="9375" t="5500" r="16875"/>
          <a:stretch>
            <a:fillRect/>
          </a:stretch>
        </p:blipFill>
        <p:spPr>
          <a:xfrm>
            <a:off x="4735528" y="1325880"/>
            <a:ext cx="6622384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11 · ТОЛЬКО ПОСТЫ НА ПЛАНЕ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На плане — только посты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 плане только посты (кружки с номерами 1–5) и таблички комнат.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левой панели нет каталога одиночных элементов.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Строка над планом — «Постов: 5 · Комнат: 4».</a:t>
            </a:r>
          </a:p>
        </p:txBody>
      </p:sp>
      <p:pic>
        <p:nvPicPr>
          <p:cNvPr id="6" name="Picture 5" descr="11-1-plan-only-p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B3C4"/>
                </a:solidFill>
                <a:latin typeface="Arial"/>
              </a:rPr>
              <a:t>ЧАСТЬ 2 ИЗ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Деньги и документы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12.  Строка спецификации как в счёте: «Количество × Цена = Сумма»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13.  НДС сходится до копейки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14.  Пустой проект не печатает КП и не занимает номер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15.  Печать поверх подписи в КП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D4E6"/>
                </a:solidFill>
                <a:latin typeface="Arial"/>
              </a:rPr>
              <a:t>16.  Снятая с производства накладка остаётся в посте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12 · СТРОКА КАК В СЧЁТЕ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Количество × Цена = Сумма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«Пост на 4 модуля» 2 × 2 490,13 ₽ = 4 980,26 ₽.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Суммы строк дают «Оборудование 9 313,90 ₽».</a:t>
            </a:r>
          </a:p>
        </p:txBody>
      </p:sp>
      <p:pic>
        <p:nvPicPr>
          <p:cNvPr id="6" name="Picture 5" descr="12-1-kp-line-as-invoice__v26.png"/>
          <p:cNvPicPr>
            <a:picLocks noChangeAspect="1"/>
          </p:cNvPicPr>
          <p:nvPr/>
        </p:nvPicPr>
        <p:blipFill>
          <a:blip r:embed="rId2"/>
          <a:srcRect t="2143" b="84643"/>
          <a:stretch>
            <a:fillRect/>
          </a:stretch>
        </p:blipFill>
        <p:spPr>
          <a:xfrm>
            <a:off x="4649033" y="1325880"/>
            <a:ext cx="6795371" cy="1142858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12-1-kp-line-as-invoice__v26.png"/>
          <p:cNvPicPr>
            <a:picLocks noChangeAspect="1"/>
          </p:cNvPicPr>
          <p:nvPr/>
        </p:nvPicPr>
        <p:blipFill>
          <a:blip r:embed="rId2"/>
          <a:srcRect l="62727" t="40000" b="42857"/>
          <a:stretch>
            <a:fillRect/>
          </a:stretch>
        </p:blipFill>
        <p:spPr>
          <a:xfrm>
            <a:off x="4649031" y="2651618"/>
            <a:ext cx="6795375" cy="3977781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12 · СТРОКА КАК В СЧЁТЕ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Цифры сходятся в панели, КП и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«Оборудование 9 313,90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«Скидка 3% −279,42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«Монтажные материалы 451,72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«Работы 2 077,93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без НДС 11 564,13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«НДС 20% 2 312,83 ₽»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с НДС 13 876,96 ₽»</a:t>
            </a:r>
          </a:p>
        </p:txBody>
      </p:sp>
      <p:pic>
        <p:nvPicPr>
          <p:cNvPr id="6" name="Picture 5" descr="12-2-panel__v26.png"/>
          <p:cNvPicPr>
            <a:picLocks noChangeAspect="1"/>
          </p:cNvPicPr>
          <p:nvPr/>
        </p:nvPicPr>
        <p:blipFill>
          <a:blip r:embed="rId2"/>
          <a:srcRect t="23370" b="46739"/>
          <a:stretch>
            <a:fillRect/>
          </a:stretch>
        </p:blipFill>
        <p:spPr>
          <a:xfrm>
            <a:off x="5657088" y="1325880"/>
            <a:ext cx="4779264" cy="39827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6-1-excel-sheet1__v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088" y="5491480"/>
            <a:ext cx="4779264" cy="11379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13 · НДС ДО КОПЕЙКИ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НДС сходится до копейки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Поле «НДС» — «Начислить сверху».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«Итого без НДС» 41 101,30 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+ «НДС 20%» 8 220,26 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= «Итого с НДС» 49 321,56 ₽</a:t>
            </a:r>
          </a:p>
        </p:txBody>
      </p:sp>
      <p:pic>
        <p:nvPicPr>
          <p:cNvPr id="6" name="Picture 5" descr="13-1-vat-kopeck-kp.png"/>
          <p:cNvPicPr>
            <a:picLocks noChangeAspect="1"/>
          </p:cNvPicPr>
          <p:nvPr/>
        </p:nvPicPr>
        <p:blipFill>
          <a:blip r:embed="rId2"/>
          <a:srcRect l="71875" t="39000" b="38500"/>
          <a:stretch>
            <a:fillRect/>
          </a:stretch>
        </p:blipFill>
        <p:spPr>
          <a:xfrm>
            <a:off x="4206240" y="1325880"/>
            <a:ext cx="7680960" cy="384048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14 · ПУСТОЙ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Пустой проект — КП не открывается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Новый проект, на плане нет ни одного поста.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Пустое предложение не открывается.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Внизу справа: «В проекте пока нет ни одного поста — в предложении нечего печатать».</a:t>
            </a:r>
          </a:p>
        </p:txBody>
      </p:sp>
      <p:pic>
        <p:nvPicPr>
          <p:cNvPr id="6" name="Picture 5" descr="14-1-empty-kp-button.png"/>
          <p:cNvPicPr>
            <a:picLocks noChangeAspect="1"/>
          </p:cNvPicPr>
          <p:nvPr/>
        </p:nvPicPr>
        <p:blipFill>
          <a:blip r:embed="rId2"/>
          <a:srcRect l="18750" b="30000"/>
          <a:stretch>
            <a:fillRect/>
          </a:stretch>
        </p:blipFill>
        <p:spPr>
          <a:xfrm>
            <a:off x="5243843" y="1325880"/>
            <a:ext cx="5605752" cy="3018481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14-2-empty-kp-message.png"/>
          <p:cNvPicPr>
            <a:picLocks noChangeAspect="1"/>
          </p:cNvPicPr>
          <p:nvPr/>
        </p:nvPicPr>
        <p:blipFill>
          <a:blip r:embed="rId3"/>
          <a:srcRect l="50000" t="70000"/>
          <a:stretch>
            <a:fillRect/>
          </a:stretch>
        </p:blipFill>
        <p:spPr>
          <a:xfrm>
            <a:off x="5243843" y="4527242"/>
            <a:ext cx="5605752" cy="2102157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15 · ПЕЧАТЬ ПОВЕРХ ПОДПИСИ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Печать ложится на подпись, как на бумаге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 «Реквизиты КП» — кнопки загрузки подписи и печати.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«Коммерческое предложение PDF».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конце КП печать наложена на подпись.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Имя под ними не перекрыто.</a:t>
            </a:r>
          </a:p>
        </p:txBody>
      </p:sp>
      <p:pic>
        <p:nvPicPr>
          <p:cNvPr id="6" name="Picture 5" descr="15-1-stamp-over-signature__kp-verify.png"/>
          <p:cNvPicPr>
            <a:picLocks noChangeAspect="1"/>
          </p:cNvPicPr>
          <p:nvPr/>
        </p:nvPicPr>
        <p:blipFill>
          <a:blip r:embed="rId2"/>
          <a:srcRect t="13158" r="28571" b="26316"/>
          <a:stretch>
            <a:fillRect/>
          </a:stretch>
        </p:blipFill>
        <p:spPr>
          <a:xfrm>
            <a:off x="4206240" y="1325880"/>
            <a:ext cx="7680960" cy="3533241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16 · СНЯТАЯ С ПРОИЗВОДСТВА НАКЛАДКА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Снятая накладка остаётся в копии поста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Пост «Свет у окна» в Гостиной: Plana, «Золото блестящее», накладка 14652.24.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Ctrl+C; навести мышь на Спальню (та же отделка), Ctrl+V.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Навести мышь на копию; затем «Редактировать».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Накладка у копии не подменена: «… (снята с производства) · Стоимость поста 7 601,67 ₽».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окне поста — та же накладка [14652.24].</a:t>
            </a:r>
          </a:p>
        </p:txBody>
      </p:sp>
      <p:pic>
        <p:nvPicPr>
          <p:cNvPr id="6" name="Picture 5" descr="16-1-copy-hover-discontinued.png"/>
          <p:cNvPicPr>
            <a:picLocks noChangeAspect="1"/>
          </p:cNvPicPr>
          <p:nvPr/>
        </p:nvPicPr>
        <p:blipFill>
          <a:blip r:embed="rId2"/>
          <a:srcRect l="43750" t="49000" r="36250" b="26000"/>
          <a:stretch>
            <a:fillRect/>
          </a:stretch>
        </p:blipFill>
        <p:spPr>
          <a:xfrm>
            <a:off x="4206240" y="1325880"/>
            <a:ext cx="4081578" cy="3188733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16-2-postwindow-discontinued.png"/>
          <p:cNvPicPr>
            <a:picLocks noChangeAspect="1"/>
          </p:cNvPicPr>
          <p:nvPr/>
        </p:nvPicPr>
        <p:blipFill>
          <a:blip r:embed="rId3"/>
          <a:srcRect r="62500" b="44000"/>
          <a:stretch>
            <a:fillRect/>
          </a:stretch>
        </p:blipFill>
        <p:spPr>
          <a:xfrm>
            <a:off x="8470699" y="1325880"/>
            <a:ext cx="3416499" cy="3188733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ЧАСТЬ 3 ИЗ 3 · ИСПРАВЛЕНО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Исправлено</a:t>
            </a:r>
          </a:p>
        </p:txBody>
      </p:sp>
      <p:pic>
        <p:nvPicPr>
          <p:cNvPr id="5" name="Picture 4" descr="11-1-plan-only-posts.png"/>
          <p:cNvPicPr>
            <a:picLocks noChangeAspect="1"/>
          </p:cNvPicPr>
          <p:nvPr/>
        </p:nvPicPr>
        <p:blipFill>
          <a:blip r:embed="rId2"/>
          <a:srcRect l="27500" t="30000" r="45000" b="28000"/>
          <a:stretch>
            <a:fillRect/>
          </a:stretch>
        </p:blipFill>
        <p:spPr>
          <a:xfrm>
            <a:off x="904189" y="1325880"/>
            <a:ext cx="2682240" cy="25603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069080"/>
            <a:ext cx="357621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Табличка Г-образной комнаты — внутри своей комнаты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Прихожая с проходом к кухне: табличка стоит внутри неё.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Клик по табличке при «Разместить» ставит пост.</a:t>
            </a:r>
          </a:p>
        </p:txBody>
      </p:sp>
      <p:pic>
        <p:nvPicPr>
          <p:cNvPr id="7" name="Picture 6" descr="17-2-markup-edit-keeps-room.png"/>
          <p:cNvPicPr>
            <a:picLocks noChangeAspect="1"/>
          </p:cNvPicPr>
          <p:nvPr/>
        </p:nvPicPr>
        <p:blipFill>
          <a:blip r:embed="rId3"/>
          <a:srcRect l="12500" t="14000"/>
          <a:stretch>
            <a:fillRect/>
          </a:stretch>
        </p:blipFill>
        <p:spPr>
          <a:xfrm>
            <a:off x="4307738" y="1325880"/>
            <a:ext cx="3576218" cy="2196819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307738" y="4069080"/>
            <a:ext cx="357621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Правка разметки не сбрасывает данные комнаты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Дорисовали ванную «Разметкой» — Гостиная осталась «Гостиная», «Plana», «Золото блестящее».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Имя, площадь и отделка сохраняются и при перерисовке стены.</a:t>
            </a:r>
          </a:p>
        </p:txBody>
      </p:sp>
      <p:pic>
        <p:nvPicPr>
          <p:cNvPr id="9" name="Picture 8" descr="17-3-pictures-view-stand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325880"/>
            <a:ext cx="3576218" cy="2223372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158276" y="4069080"/>
            <a:ext cx="357621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Вид «С картинками» показывает стандарт комнаты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Строка «Стандарт: итальянский».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Совет «под эту комнату накладок нет» — один раз.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НА ПОКАЗЕ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Два практических совета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2A4A"/>
                </a:solidFill>
                <a:latin typeface="Arial"/>
              </a:rPr>
              <a:t>Копирование: сначала выделить посты, Ctrl+C, навести мышь в другую комнату, Ctrl+V.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Arial"/>
              </a:rPr>
              <a:t>Копия встаёт под мышью и привязывается к той комнате, где стоит.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2A4A"/>
                </a:solidFill>
                <a:latin typeface="Arial"/>
              </a:rPr>
              <a:t>Ошиблись — Ctrl+Z.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Arial"/>
              </a:rPr>
              <a:t>Вставка копий и удаление поста отменяются одним нажатием.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42A4A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ВОПРОСЫ ЗАКАЗЧИКУ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От ответов зависит следующая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7315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1. Новая номенклатура — срочно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Нет 496 артикулов из прежнего файла: все сняты? Есть ли замены «старый → новый»? Можно ли помечать статусом, а не удалять? Пустые столбцы отделки и подбора.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2. Код функции клавиш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Какая клавиша одной серии соответствует какой в другой — предлагаем обсудить на созвоне.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3. Упаковки, подсветка, аксессуары, фото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Где нужна кратность упаковке; подсветка NEVE, Eikon Flat и звонковых кнопок; обязательные аксессуары; фото 698 артикулов.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4. Документы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Наценка — строкой или в ценах; режим НДС для нового проекта; чем «Расчёт» отличается от КП; логотип EPG в векторе.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5. План и посты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Комната нового поста; немецкий стандарт без накладки на 3 модуля; вертикальные рамки; этажи; «избранное на N комбинаций».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A4A"/>
                </a:solidFill>
                <a:latin typeface="Arial"/>
              </a:rPr>
              <a:t>6. Сервис на продажу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6070"/>
                </a:solidFill>
                <a:latin typeface="Arial"/>
              </a:rPr>
              <a:t>Типы пользователей и что каждый может; что из большого этапа начать первым.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25880"/>
            <a:ext cx="365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ФАЙЛ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2A4A"/>
                </a:solidFill>
                <a:latin typeface="Arial"/>
              </a:rPr>
              <a:t>Файл с вопросами и местом для ответов: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Arial"/>
              </a:rPr>
              <a:t>docs/вопросы-заказчику-2026-10-14.txt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СРОЧНЕЕ ВСЕГО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Arial"/>
              </a:rPr>
              <a:t>Разделы 1 и 2 — без них не загрузить новую номенклатуру и не менять клавиши при смене серии. Удобно ответить голосом.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Всё показанное уже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C8D4E6"/>
                </a:solidFill>
                <a:latin typeface="Arial"/>
              </a:rPr>
              <a:t>Откройте ссылку и повторите любой шаг из презентации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B3C4"/>
                </a:solidFill>
                <a:latin typeface="Arial"/>
              </a:rPr>
              <a:t>https://electroplan-573.pages.dev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ElectroPlan — к встрече: что сделано с 24.09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