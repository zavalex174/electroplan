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ElectroPlan — к встрече 24.09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C8D4E6"/>
                </a:solidFill>
                <a:latin typeface="Arial"/>
              </a:rPr>
              <a:t>Что сделано после показа 22.09 — куда нажимать и что получаем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B3C4"/>
                </a:solidFill>
                <a:latin typeface="Arial"/>
              </a:rPr>
              <a:t>https://electroplan-573.pages.dev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ПЛАН ПОКАЗА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Четыре новых вещи + 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142A4A"/>
                </a:solidFill>
                <a:latin typeface="Arial"/>
              </a:rPr>
              <a:t>1.  Подпись и печать в коммерческом предложении</a:t>
            </a:r>
          </a:p>
          <a:p>
            <a:pPr>
              <a:spcAft>
                <a:spcPts val="1800"/>
              </a:spcAft>
            </a:pPr>
            <a:r>
              <a:rPr sz="1600" b="0">
                <a:solidFill>
                  <a:srgbClr val="556070"/>
                </a:solidFill>
                <a:latin typeface="Arial"/>
              </a:rPr>
              <a:t>      бренд документов закрыт целиком: логотип, свои условия, подпись, печать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42A4A"/>
                </a:solidFill>
                <a:latin typeface="Arial"/>
              </a:rPr>
              <a:t>2.  Монтажный стандарт — первый шаг подбора накладки</a:t>
            </a:r>
          </a:p>
          <a:p>
            <a:pPr>
              <a:spcAft>
                <a:spcPts val="1800"/>
              </a:spcAft>
            </a:pPr>
            <a:r>
              <a:rPr sz="1600" b="0">
                <a:solidFill>
                  <a:srgbClr val="556070"/>
                </a:solidFill>
                <a:latin typeface="Arial"/>
              </a:rPr>
              <a:t>      его слова: «первое, что должны мы выбрать»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42A4A"/>
                </a:solidFill>
                <a:latin typeface="Arial"/>
              </a:rPr>
              <a:t>3.  Готовый пост в комнате другого стандарта сам меняет накладку</a:t>
            </a:r>
          </a:p>
          <a:p>
            <a:pPr>
              <a:spcAft>
                <a:spcPts val="1800"/>
              </a:spcAft>
            </a:pPr>
            <a:r>
              <a:rPr sz="1600" b="0">
                <a:solidFill>
                  <a:srgbClr val="556070"/>
                </a:solidFill>
                <a:latin typeface="Arial"/>
              </a:rPr>
              <a:t>      серия и цвет сохраняются; нет аналога — пост не ставится и объясняет почему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142A4A"/>
                </a:solidFill>
                <a:latin typeface="Arial"/>
              </a:rPr>
              <a:t>4.  Новый пост открывается с накладкой своей комнаты</a:t>
            </a:r>
          </a:p>
          <a:p>
            <a:pPr>
              <a:spcAft>
                <a:spcPts val="1800"/>
              </a:spcAft>
            </a:pPr>
            <a:r>
              <a:rPr sz="1600" b="0">
                <a:solidFill>
                  <a:srgbClr val="556070"/>
                </a:solidFill>
                <a:latin typeface="Arial"/>
              </a:rPr>
              <a:t>      выложено сегодня; раньше была белая Neve Up из начала каталога</a:t>
            </a:r>
          </a:p>
          <a:p>
            <a:pPr>
              <a:spcAft>
                <a:spcPts val="600"/>
              </a:spcAft>
            </a:pPr>
            <a:r>
              <a:rPr sz="2400" b="0">
                <a:solidFill>
                  <a:srgbClr val="142A4A"/>
                </a:solidFill>
                <a:latin typeface="Arial"/>
              </a:rPr>
              <a:t>5.  Вопросы к нему — без ответов работа стоит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1 · ПОДПИСЬ И ПЕЧАТЬ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Загружаем подпись и печать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Правая панель, блок «Реквизиты КП».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Кнопка «Подпись…» — выбрать картинку.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3. Кнопка «Печать…» — выбрать картинку.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Картинки видны прямо в панели, рядом кнопка «Убрать».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Запоминаются для всех проектов — грузить один раз.</a:t>
            </a:r>
          </a:p>
        </p:txBody>
      </p:sp>
      <p:pic>
        <p:nvPicPr>
          <p:cNvPr id="6" name="Picture 5" descr="13-sign-butt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25880"/>
            <a:ext cx="3886200" cy="2428875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  <p:pic>
        <p:nvPicPr>
          <p:cNvPr id="7" name="Picture 6" descr="14-sign-lo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25880"/>
            <a:ext cx="3657600" cy="228600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1 · ПОДПИСЬ И ПЕЧАТЬ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Результат — в конце коммерческого предложения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Кнопка «Коммерческое предложение PDF» (вверху справа).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Прокрутить документ до конца.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После итогов — подпись и печать компании.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Не загружены — места под них в документе нет.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В лист монтажника не идут.</a:t>
            </a:r>
          </a:p>
        </p:txBody>
      </p:sp>
      <p:pic>
        <p:nvPicPr>
          <p:cNvPr id="6" name="Picture 5" descr="16-kp-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194" y="1325880"/>
            <a:ext cx="4167051" cy="530352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2 · МОНТАЖНЫЙ СТАНДАРТ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Стандарт — первое поле отделки комнаты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Инструмент «Комната» — протянуть мышью на плане.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Справа «Отделка накладок» → первое поле «Стандарт монтажа».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3. Выбрать «немецкий» или «итальянский».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Дальше предлагаются только накладки этого стандарта.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Итальянских 1350, немецких 560 из 1631.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Универсальные — в обоих.</a:t>
            </a:r>
          </a:p>
        </p:txBody>
      </p:sp>
      <p:pic>
        <p:nvPicPr>
          <p:cNvPr id="6" name="Picture 5" descr="03-room-standard-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25880"/>
            <a:ext cx="7680960" cy="480060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2 · МОНТАЖНЫЙ СТАНДАРТ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То же в виде «С картинками»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В «Отделке накладок» переключатель «С картинками».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Кнопка «Подобрать накладку».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Пошаговый подбор: стандарт → серия → материал → форма → цвет.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Стандарт — первый шаг, как на colors.vimar.com.</a:t>
            </a:r>
          </a:p>
        </p:txBody>
      </p:sp>
      <p:pic>
        <p:nvPicPr>
          <p:cNvPr id="6" name="Picture 5" descr="04-room-pic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25880"/>
            <a:ext cx="7680960" cy="480060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3 · ПОСТ В КОМНАТУ ДРУГОГО СТАНДАРТА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Шаг 1. Комната и пост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Комната «Гостиная»: итальянский, Neve Up, белая.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«Готовые посты» → «+ Создать».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3. Комната поста — Гостиная, 4 модуля, клавиши 09001.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4. «Сохранить пост».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Накладка 09674.01 — итальянская, Neve Up, белая, 4 модуля.</a:t>
            </a:r>
          </a:p>
        </p:txBody>
      </p:sp>
      <p:pic>
        <p:nvPicPr>
          <p:cNvPr id="6" name="Picture 5" descr="06-room-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25880"/>
            <a:ext cx="3886200" cy="2428875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  <p:pic>
        <p:nvPicPr>
          <p:cNvPr id="7" name="Picture 6" descr="07-post4-bui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25880"/>
            <a:ext cx="3657600" cy="228600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3 · ПОСТ В КОМНАТУ ДРУГОГО СТАНДАРТА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Шаг 2. Ставим пост в немецкую кухню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Пост в библиотеке слева → «Разместить».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Кликнуть на плане РЯДОМ с табличкой «Кухня (немецкий)».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«Объект добавлен в комнату «Кухня (немецкий)»».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При наведении видно: «Накладка на 4 модуля (2+2), белая».</a:t>
            </a:r>
          </a:p>
        </p:txBody>
      </p:sp>
      <p:pic>
        <p:nvPicPr>
          <p:cNvPr id="6" name="Picture 5" descr="08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25880"/>
            <a:ext cx="3886200" cy="2428875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  <p:pic>
        <p:nvPicPr>
          <p:cNvPr id="7" name="Picture 6" descr="09-placed-to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25880"/>
            <a:ext cx="3657600" cy="228600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3 · ПОСТ В КОМНАТУ ДРУГОГО СТАНДАРТА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Результат: накладка сменилась сама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Выбрать пост на плане → «Редактировать».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Накладка 09664.01 — НЕМЕЦКАЯ, та же серия Neve Up и тот же белый цвет.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Клавиши те же.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Цена накладки в смете и КП — уже новая.</a:t>
            </a:r>
          </a:p>
        </p:txBody>
      </p:sp>
      <p:pic>
        <p:nvPicPr>
          <p:cNvPr id="6" name="Picture 5" descr="11-placed-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25880"/>
            <a:ext cx="7680960" cy="480060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3 · ПОСТ В КОМНАТУ ДРУГОГО СТАНДАРТА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Если аналога нет — честный отказ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Пост Neve Up на 3 модуля (итальянский).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«Разместить» → кликнуть рядом с немецкой кухней.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Пост НЕ ставится. Сообщение внизу справа: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«Для комнаты «Кухня (немецкий)» (стандарт «немецкий») не нашлось накладки на 3 модуля, в которую встают клавиши этого поста (серия «Neve Up»), — готовый пост не размещён.»</a:t>
            </a:r>
          </a:p>
        </p:txBody>
      </p:sp>
      <p:pic>
        <p:nvPicPr>
          <p:cNvPr id="6" name="Picture 5" descr="12-refuse-to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25880"/>
            <a:ext cx="7680960" cy="480060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4 · НОВЫЙ ПОСТ В КОМНАТЕ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Накладка сразу из своей комнаты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Комната со стандартом «немецкий».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«Готовые посты» → «+ Создать».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Накладка 09662.01 «на 2 модуля, белая» — немецкого стандарта.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Имя «Пост на 2 модуля», в списке модулей только 1, 2, 4, 6, 8.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Раньше: итальянская белая Neve Up на 3 модуля в любой комнате.</a:t>
            </a:r>
          </a:p>
        </p:txBody>
      </p:sp>
      <p:pic>
        <p:nvPicPr>
          <p:cNvPr id="6" name="Picture 5" descr="05-newpost-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25880"/>
            <a:ext cx="7680960" cy="480060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4 · НОВЫЙ ПОСТ В КОМНАТЕ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Если под комнату накладок нет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КУДА НАЖИМАЕМ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1. Комната: немецкий + Arke + Антрацит (такой накладки нет).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2. «+ Создать».</a:t>
            </a:r>
          </a:p>
          <a:p>
            <a:pPr>
              <a:spcAft>
                <a:spcPts val="600"/>
              </a:spcAft>
            </a:pPr>
            <a:r>
              <a:rPr sz="600" b="0">
                <a:solidFill>
                  <a:srgbClr val="142A4A"/>
                </a:solidFill>
                <a:latin typeface="Arial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ЧТО ПОЛУЧАЕМ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«Под эту комнату накладок нет» — и перечень: стандарт, серия, цвет.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A4A"/>
                </a:solidFill>
                <a:latin typeface="Arial"/>
              </a:rPr>
              <a:t>Чужую накладку не подставляет, «Сохранить» заблокировано.</a:t>
            </a:r>
          </a:p>
        </p:txBody>
      </p:sp>
      <p:pic>
        <p:nvPicPr>
          <p:cNvPr id="6" name="Picture 5" descr="17-empty-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25880"/>
            <a:ext cx="7680960" cy="4800600"/>
          </a:xfrm>
          <a:prstGeom prst="rect">
            <a:avLst/>
          </a:prstGeom>
          <a:ln w="9525">
            <a:solidFill>
              <a:srgbClr val="CCD3DD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НА ПОКАЗЕ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Одна ловушка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1">
                <a:solidFill>
                  <a:srgbClr val="142A4A"/>
                </a:solidFill>
                <a:latin typeface="Arial"/>
              </a:rPr>
              <a:t>«Разместить» → кликать РЯДОМ с табличкой комнаты, а не по ней.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556070"/>
                </a:solidFill>
                <a:latin typeface="Arial"/>
              </a:rPr>
              <a:t>Клик по самой табличке с названием комнаты пост не ставит — табличка перехватывает клик.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556070"/>
                </a:solidFill>
                <a:latin typeface="Arial"/>
              </a:rPr>
              <a:t>Починим после встречи.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E11D48"/>
                </a:solidFill>
                <a:latin typeface="Arial"/>
              </a:rPr>
              <a:t>ВОПРОСЫ ЗАКАЗЧИКУ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Arial"/>
              </a:rPr>
              <a:t>Без ответов работа стоит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6949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42A4A"/>
                </a:solidFill>
                <a:latin typeface="Arial"/>
              </a:rPr>
              <a:t>1. Код функции изделия в номенклатуре — иначе клавиши при смене серии не заменить. Опечатка: 19105.B — переключатель, а стоит «В».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42A4A"/>
                </a:solidFill>
                <a:latin typeface="Arial"/>
              </a:rPr>
              <a:t>2. Фото 698 артикулов (выгрузка из их базы, имя файла = артикул).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42A4A"/>
                </a:solidFill>
                <a:latin typeface="Arial"/>
              </a:rPr>
              <a:t>3. Подсветка NEVE и Eikon Flat: письмо — «нет», номенклатура — «да» (39 позиций). Кому верить? 9,60 EUR за светодиод. Звонковые кнопки: 220 В или 00935 (12–24 В)?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42A4A"/>
                </a:solidFill>
                <a:latin typeface="Arial"/>
              </a:rPr>
              <a:t>4. Аксессуары: 02973, 02974, 02965.1 и таблица «механизм → аксессуар».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42A4A"/>
                </a:solidFill>
                <a:latin typeface="Arial"/>
              </a:rPr>
              <a:t>5. Логотип EPG в векторе; текст «Соглашения сторон»; номер EPG-2026-0001?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42A4A"/>
                </a:solidFill>
                <a:latin typeface="Arial"/>
              </a:rPr>
              <a:t>6. Уровни доступа: типы пользователей и что каждый видит; коды 2 и 4 в «Группе доступа».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2A4A"/>
                </a:solidFill>
                <a:latin typeface="Arial"/>
              </a:rPr>
              <a:t>7. Новый прайс со статусами (в наличии / под заказ / снят) и номенклатура LINEA.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325880"/>
            <a:ext cx="4114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ФАЙЛЫ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42A4A"/>
                </a:solidFill>
                <a:latin typeface="Arial"/>
              </a:rPr>
              <a:t>Вопросы (7 тем, место под ответы):</a:t>
            </a:r>
          </a:p>
          <a:p>
            <a:pPr>
              <a:spcAft>
                <a:spcPts val="1400"/>
              </a:spcAft>
            </a:pPr>
            <a:r>
              <a:rPr sz="1100" b="0">
                <a:solidFill>
                  <a:srgbClr val="556070"/>
                </a:solidFill>
                <a:latin typeface="Arial"/>
              </a:rPr>
              <a:t>D:\LuxarGROUP\myProgects\electro\electroplan-project\docs\вопросы-заказчику-2026-09-22.txt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42A4A"/>
                </a:solidFill>
                <a:latin typeface="Arial"/>
              </a:rPr>
              <a:t>Список 698 артикулов без фото (Excel):</a:t>
            </a:r>
          </a:p>
          <a:p>
            <a:pPr>
              <a:spcAft>
                <a:spcPts val="2200"/>
              </a:spcAft>
            </a:pPr>
            <a:r>
              <a:rPr sz="1100" b="0">
                <a:solidFill>
                  <a:srgbClr val="556070"/>
                </a:solidFill>
                <a:latin typeface="Arial"/>
              </a:rPr>
              <a:t>D:\LuxarGROUP\myProgects\electro\electroplan-project\docs\письмо-заказчику-список-без-фото.xlsx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E11D48"/>
                </a:solidFill>
                <a:latin typeface="Arial"/>
              </a:rPr>
              <a:t>РЕШИТЬ НА ВСТРЕЧЕ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42A4A"/>
                </a:solidFill>
                <a:latin typeface="Arial"/>
              </a:rPr>
              <a:t>Немецкий стандарт, накладки на 3 модуля нет: по умолчанию предлагать на 2 модуля или на 4? Сейчас — на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